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8" r:id="rId3"/>
    <p:sldId id="269" r:id="rId4"/>
    <p:sldId id="272" r:id="rId5"/>
    <p:sldId id="270" r:id="rId6"/>
    <p:sldId id="273" r:id="rId7"/>
    <p:sldId id="271" r:id="rId8"/>
    <p:sldId id="266" r:id="rId9"/>
    <p:sldId id="258" r:id="rId10"/>
    <p:sldId id="260" r:id="rId11"/>
    <p:sldId id="259" r:id="rId12"/>
    <p:sldId id="261" r:id="rId13"/>
    <p:sldId id="262" r:id="rId14"/>
    <p:sldId id="274" r:id="rId15"/>
    <p:sldId id="263" r:id="rId16"/>
    <p:sldId id="264" r:id="rId17"/>
    <p:sldId id="275" r:id="rId18"/>
    <p:sldId id="265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927"/>
    <p:restoredTop sz="94592"/>
  </p:normalViewPr>
  <p:slideViewPr>
    <p:cSldViewPr snapToGrid="0" snapToObjects="1">
      <p:cViewPr>
        <p:scale>
          <a:sx n="157" d="100"/>
          <a:sy n="157" d="100"/>
        </p:scale>
        <p:origin x="928" y="1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148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rPr kumimoji="1" lang="en-US" altLang="ko-KR" dirty="0" err="1"/>
              <a:t>Aiops</a:t>
            </a:r>
            <a:r>
              <a:rPr kumimoji="1" lang="ko-KR" altLang="en-US" dirty="0"/>
              <a:t>란 인공지능을 </a:t>
            </a:r>
            <a:r>
              <a:rPr kumimoji="1" lang="en-US" altLang="ko-KR" dirty="0"/>
              <a:t>IT</a:t>
            </a:r>
            <a:r>
              <a:rPr kumimoji="1" lang="ko-KR" altLang="en-US" dirty="0"/>
              <a:t>운영 프로세스에</a:t>
            </a:r>
            <a:r>
              <a:rPr kumimoji="1" lang="en-US" altLang="ko-KR" dirty="0"/>
              <a:t>. </a:t>
            </a:r>
            <a:r>
              <a:rPr kumimoji="1" lang="ko-KR" altLang="en-US" dirty="0"/>
              <a:t>결합하여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운영환경에서 </a:t>
            </a:r>
          </a:p>
        </p:txBody>
      </p:sp>
    </p:spTree>
    <p:extLst>
      <p:ext uri="{BB962C8B-B14F-4D97-AF65-F5344CB8AC3E}">
        <p14:creationId xmlns:p14="http://schemas.microsoft.com/office/powerpoint/2010/main" val="3276301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2035"/>
          </a:solidFill>
          <a:ln w="12700">
            <a:solidFill>
              <a:srgbClr val="0F203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3200400" y="0"/>
            <a:ext cx="54864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657600" y="1005840"/>
            <a:ext cx="1828800" cy="292608"/>
          </a:xfrm>
          <a:prstGeom prst="rect">
            <a:avLst/>
          </a:prstGeom>
          <a:solidFill>
            <a:srgbClr val="162840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657600" y="10058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건국대학교 졸업프로젝트 중간발표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474720" y="14173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기반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 인프라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6060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이상탐지 시스템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3474720" y="33375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Prometheus · Loki · LLM (Llama 3.1-8B) · Remediation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3200400" cy="388620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91440" y="4754880"/>
            <a:ext cx="301752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2026.04.14  |  건국대학교 컴퓨터공학부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01168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85800" y="201168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97280" y="201168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508760" y="2011680"/>
            <a:ext cx="228600" cy="228600"/>
          </a:xfrm>
          <a:prstGeom prst="ellipse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920240" y="2011680"/>
            <a:ext cx="228600" cy="228600"/>
          </a:xfrm>
          <a:prstGeom prst="ellipse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3595315C-3967-A5AD-814F-048E76FA96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426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CF946C09-400E-E06B-A6B2-76BABA8097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02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69DADEDE-4482-F66C-8E66-3A64946561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04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1AAEADDC-89BC-B6EB-8308-6EAC8265BB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59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6">
            <a:extLst>
              <a:ext uri="{FF2B5EF4-FFF2-40B4-BE49-F238E27FC236}">
                <a16:creationId xmlns:a16="http://schemas.microsoft.com/office/drawing/2014/main" id="{AB981F25-F424-876A-87D3-6827C8155E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184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46F6CA4F-46CF-9957-E0E0-80DA64AFF5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181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9EDB29CC-2181-9D73-A6CC-CC5A3D87BC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16459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272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구현된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아키텍처 개요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8595360" cy="1234440"/>
          </a:xfrm>
          <a:prstGeom prst="rect">
            <a:avLst/>
          </a:prstGeom>
          <a:solidFill>
            <a:srgbClr val="0D2B1A"/>
          </a:solidFill>
          <a:ln w="12700">
            <a:solidFill>
              <a:srgbClr val="1A5C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leafy-net  (서비스 레이어)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243584"/>
            <a:ext cx="1554480" cy="804672"/>
          </a:xfrm>
          <a:prstGeom prst="rect">
            <a:avLst/>
          </a:prstGeom>
          <a:solidFill>
            <a:srgbClr val="1A4731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86000" y="1243584"/>
            <a:ext cx="1554480" cy="804672"/>
          </a:xfrm>
          <a:prstGeom prst="rect">
            <a:avLst/>
          </a:prstGeom>
          <a:solidFill>
            <a:srgbClr val="1A4731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286000" y="124358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0" y="1243584"/>
            <a:ext cx="1554480" cy="804672"/>
          </a:xfrm>
          <a:prstGeom prst="rect">
            <a:avLst/>
          </a:prstGeom>
          <a:solidFill>
            <a:srgbClr val="1A4731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114800" y="1243584"/>
            <a:ext cx="1554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8595360" cy="868680"/>
          </a:xfrm>
          <a:prstGeom prst="rect">
            <a:avLst/>
          </a:prstGeom>
          <a:solidFill>
            <a:srgbClr val="0D1F2B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411480" y="2331720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수집기  (leafy-net ↔ mgmt-net)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587752"/>
            <a:ext cx="150876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11480" y="25877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호스트 전체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84832" y="2587752"/>
            <a:ext cx="150876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2084832" y="25877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컨테이너별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758184" y="2587752"/>
            <a:ext cx="150876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3758184" y="25877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nginx/pg-exporter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31536" y="2587752"/>
            <a:ext cx="150876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431536" y="25877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수집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04888" y="2587752"/>
            <a:ext cx="1508760" cy="530352"/>
          </a:xfrm>
          <a:prstGeom prst="rect">
            <a:avLst/>
          </a:prstGeom>
          <a:solidFill>
            <a:srgbClr val="162840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104888" y="258775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scapy</a:t>
            </a:r>
            <a:endParaRPr lang="en-US" sz="85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패킷 (2학기)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3310128"/>
            <a:ext cx="8595360" cy="16459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411480" y="33101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mgmt-net  (관리 레이어)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584448"/>
            <a:ext cx="1508760" cy="594360"/>
          </a:xfrm>
          <a:prstGeom prst="rect">
            <a:avLst/>
          </a:prstGeom>
          <a:solidFill>
            <a:srgbClr val="162840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411480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메트릭 저장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84832" y="3584448"/>
            <a:ext cx="1508760" cy="594360"/>
          </a:xfrm>
          <a:prstGeom prst="rect">
            <a:avLst/>
          </a:prstGeom>
          <a:solidFill>
            <a:srgbClr val="162840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2084832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저장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758184" y="3584448"/>
            <a:ext cx="1508760" cy="594360"/>
          </a:xfrm>
          <a:prstGeom prst="rect">
            <a:avLst/>
          </a:prstGeom>
          <a:solidFill>
            <a:srgbClr val="162840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3758184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시각화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431536" y="3584448"/>
            <a:ext cx="1508760" cy="594360"/>
          </a:xfrm>
          <a:prstGeom prst="rect">
            <a:avLst/>
          </a:prstGeom>
          <a:solidFill>
            <a:srgbClr val="162840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431536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llm-engine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3.1-8B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104888" y="3584448"/>
            <a:ext cx="1508760" cy="594360"/>
          </a:xfrm>
          <a:prstGeom prst="rect">
            <a:avLst/>
          </a:prstGeom>
          <a:solidFill>
            <a:srgbClr val="162840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7104888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전처리+프롬프트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11480" y="4279392"/>
            <a:ext cx="5120640" cy="502920"/>
          </a:xfrm>
          <a:prstGeom prst="rect">
            <a:avLst/>
          </a:prstGeom>
          <a:solidFill>
            <a:srgbClr val="1F1220"/>
          </a:solidFill>
          <a:ln w="12700">
            <a:solidFill>
              <a:srgbClr val="6B21A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11480" y="427939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remediation-agent  ←  (기말 발표 예정)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1234440" y="2231136"/>
            <a:ext cx="0" cy="100584"/>
          </a:xfrm>
          <a:prstGeom prst="line">
            <a:avLst/>
          </a:prstGeom>
          <a:noFill/>
          <a:ln w="1905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234440" y="3118104"/>
            <a:ext cx="0" cy="192024"/>
          </a:xfrm>
          <a:prstGeom prst="line">
            <a:avLst/>
          </a:prstGeom>
          <a:noFill/>
          <a:ln w="1905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모니터링 레이어 구성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Stack: Metrics · Logs · Visualization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1005840"/>
            <a:ext cx="2788920" cy="3931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54864" cy="3931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393192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(Prometheus)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93192" y="1399032"/>
            <a:ext cx="2468880" cy="1828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20624" y="1508760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58368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node-exporter → 호스트 CPU/Memory/Disk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0624" y="2276856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58368" y="2249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cAdvisor → 컨테이너별 리소스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" y="3044952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58368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nginx/pg-exporter → 서비스 지표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" y="3813048"/>
            <a:ext cx="164592" cy="164592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58368" y="3785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룰 → 임계 초과 시 웹훅 발송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0" y="1005840"/>
            <a:ext cx="2788920" cy="3931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54864" cy="3931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3337560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(Loki + Fluentd)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1399032"/>
            <a:ext cx="2468880" cy="182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3364992" y="1508760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3602736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Fluentd → Docker 로그 드라이버로 수집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4992" y="2276856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3602736" y="2249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 → 라벨 기반 로그 저장 (볼륨 마운트)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3044952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3602736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pipeline이 이상 시점 ±5분 로그 질의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64992" y="3813048"/>
            <a:ext cx="164592" cy="164592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3602736" y="3785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에러·경고 로그 우선 선별 (최대 50줄)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44768" y="1005840"/>
            <a:ext cx="2788920" cy="3931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6144768" y="1005840"/>
            <a:ext cx="54864" cy="3931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6281928" y="10515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(Grafana)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281928" y="1399032"/>
            <a:ext cx="2468880" cy="1828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6309360" y="1508760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6547104" y="14813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Loki 데이터소스 자동 프로비저닝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09360" y="2276856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6547104" y="224942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컨테이너별 CPU/Memory 대시보드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09360" y="3044952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547104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패널 — 실시간 에러 스트림 확인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09360" y="3813048"/>
            <a:ext cx="164592" cy="16459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6547104" y="378561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상태 패널 — firing / resolved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룰 설계 — LLM 효율적 가동 전략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LLM is triggered minimally and precisely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5029200" cy="398678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54864" cy="39867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20624" y="1024128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Alert Rules  (alert.rules.yml)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" y="1298448"/>
            <a:ext cx="466344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" y="1353312"/>
            <a:ext cx="1572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이름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29968" y="1353312"/>
            <a:ext cx="1609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발화 조건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75888" y="1353312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34256" y="1353312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심각도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1572768"/>
            <a:ext cx="4663440" cy="1371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20624" y="1618488"/>
            <a:ext cx="4663440" cy="438912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20624" y="165506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HighCpuUsage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029968" y="165506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사용률 &gt; 50%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75888" y="165506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09928"/>
            <a:ext cx="749808" cy="256032"/>
          </a:xfrm>
          <a:prstGeom prst="rect">
            <a:avLst/>
          </a:prstGeom>
          <a:solidFill>
            <a:srgbClr val="2D2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334256" y="170992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20624" y="2093976"/>
            <a:ext cx="4663440" cy="43891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420624" y="2130552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HighMemoryUsage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029968" y="2130552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메모리 &gt; 70%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75888" y="2130552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34256" y="2185416"/>
            <a:ext cx="749808" cy="256032"/>
          </a:xfrm>
          <a:prstGeom prst="rect">
            <a:avLst/>
          </a:prstGeom>
          <a:solidFill>
            <a:srgbClr val="2D2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4334256" y="2185416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20624" y="2569464"/>
            <a:ext cx="4663440" cy="438912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20624" y="260604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ContainerRestarted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2029968" y="2606040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5분 내 재시작 감지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675888" y="2606040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34256" y="2660904"/>
            <a:ext cx="749808" cy="256032"/>
          </a:xfrm>
          <a:prstGeom prst="rect">
            <a:avLst/>
          </a:prstGeom>
          <a:solidFill>
            <a:srgbClr val="3B0A0A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334256" y="2660904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20624" y="3044952"/>
            <a:ext cx="4663440" cy="43891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420624" y="3081528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HighNetworkReceive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029968" y="3081528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수신량 &gt; 10 MB/s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75888" y="308152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334256" y="3136392"/>
            <a:ext cx="749808" cy="256032"/>
          </a:xfrm>
          <a:prstGeom prst="rect">
            <a:avLst/>
          </a:prstGeom>
          <a:solidFill>
            <a:srgbClr val="2D2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4334256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20624" y="3520440"/>
            <a:ext cx="4663440" cy="438912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20624" y="35570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HighNginxErrorRate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2029968" y="3557016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에러율 &gt; 10%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675888" y="3557016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334256" y="3611880"/>
            <a:ext cx="749808" cy="256032"/>
          </a:xfrm>
          <a:prstGeom prst="rect">
            <a:avLst/>
          </a:prstGeom>
          <a:solidFill>
            <a:srgbClr val="2D2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4334256" y="361188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0624" y="3995928"/>
            <a:ext cx="4663440" cy="438912"/>
          </a:xfrm>
          <a:prstGeom prst="rect">
            <a:avLst/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20624" y="4032504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HighPostgresConnections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029968" y="4032504"/>
            <a:ext cx="1609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 연결 수 &gt; 80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675888" y="4032504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334256" y="4087368"/>
            <a:ext cx="749808" cy="256032"/>
          </a:xfrm>
          <a:prstGeom prst="rect">
            <a:avLst/>
          </a:prstGeom>
          <a:solidFill>
            <a:srgbClr val="2D2500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334256" y="4087368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577840" y="969264"/>
            <a:ext cx="3310128" cy="171907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5577840" y="969264"/>
            <a:ext cx="54864" cy="171907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724144" y="10241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 (alertmanager.yml)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5724144" y="1298448"/>
            <a:ext cx="301752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53"/>
          <p:cNvSpPr/>
          <p:nvPr/>
        </p:nvSpPr>
        <p:spPr>
          <a:xfrm>
            <a:off x="5724144" y="1389888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group_wait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95744" y="1426464"/>
            <a:ext cx="402336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7095744" y="1426464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552944" y="13898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그룹 알림 묶음 대기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724144" y="179222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group_interval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095744" y="1828800"/>
            <a:ext cx="402336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7095744" y="1828800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52944" y="17922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알림 추가 시 재전송 대기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24144" y="2194560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repeat_interval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095744" y="2231136"/>
            <a:ext cx="402336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7095744" y="2231136"/>
            <a:ext cx="402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552944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 알림 중복 전송 차단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5577840" y="2798064"/>
            <a:ext cx="3310128" cy="2157984"/>
          </a:xfrm>
          <a:prstGeom prst="rect">
            <a:avLst/>
          </a:prstGeom>
          <a:solidFill>
            <a:srgbClr val="1A305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5577840" y="2798064"/>
            <a:ext cx="54864" cy="21579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5724144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호출 최소화 효과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5724144" y="3127248"/>
            <a:ext cx="301752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69"/>
          <p:cNvSpPr/>
          <p:nvPr/>
        </p:nvSpPr>
        <p:spPr>
          <a:xfrm>
            <a:off x="5724144" y="3246120"/>
            <a:ext cx="201168" cy="20116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70"/>
          <p:cNvSpPr/>
          <p:nvPr/>
        </p:nvSpPr>
        <p:spPr>
          <a:xfrm>
            <a:off x="5724144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989320" y="3200400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1m  →  1분간 지속 이상만 전달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순간 스파이크·노이즈 완전 차단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5724144" y="3666744"/>
            <a:ext cx="201168" cy="20116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5724144" y="36667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989320" y="3621024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repeat_interval: 1h  →  동일 이상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반복돼도 시간당 최대 1회만 호출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5724144" y="408736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8" name="Text 76"/>
          <p:cNvSpPr/>
          <p:nvPr/>
        </p:nvSpPr>
        <p:spPr>
          <a:xfrm>
            <a:off x="5724144" y="40873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989320" y="4041648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group_wait: 10s  →  다발 알림을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배치로 묶어 단일 LLM 호출 처리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5724144" y="4507992"/>
            <a:ext cx="201168" cy="20116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1" name="Text 79"/>
          <p:cNvSpPr/>
          <p:nvPr/>
        </p:nvSpPr>
        <p:spPr>
          <a:xfrm>
            <a:off x="5724144" y="45079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989320" y="4462272"/>
            <a:ext cx="2761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비동기 실행  →  웹훅 즉시 응답 후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분석은 백그라운드 독립 실행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 분석 파이프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</a:t>
            </a: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AIOps Pipeline: Alert → Collect → Prompt → LLM → 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1536192" cy="1920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850392" y="100584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50392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4813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수신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웹훅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FastAPI /webhook/alert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firing 이벤트 큐 적재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10512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993392" y="987552"/>
            <a:ext cx="1536192" cy="1920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569464" y="100584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2569464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84832" y="14813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84832" y="1792224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Prometheus: 이상 시점 ±5분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메트릭 시계열 질의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Loki: 에러 로그 우선 50줄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529584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12464" y="987552"/>
            <a:ext cx="1536192" cy="1920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288536" y="100584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4288536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03904" y="14813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조립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03904" y="1792224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/ METRICS / LOGS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섹션 구조화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출력 형식 강제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248656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31536" y="987552"/>
            <a:ext cx="1536192" cy="1920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6007608" y="100584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07608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22976" y="14813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분석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22976" y="1792224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 3.1-8B)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root_cause · threat_level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action_risk · confidence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967728" y="169164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150608" y="987552"/>
            <a:ext cx="1536192" cy="192024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726680" y="1005840"/>
            <a:ext cx="384048" cy="38404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7726680" y="1005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42048" y="148132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전달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242048" y="1792224"/>
            <a:ext cx="1353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/action 엔드포인트 호출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action_risk 기반 분기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57200" y="3108960"/>
            <a:ext cx="4114800" cy="18288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457200" y="3108960"/>
            <a:ext cx="54864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5"/>
          <p:cNvSpPr/>
          <p:nvPr/>
        </p:nvSpPr>
        <p:spPr>
          <a:xfrm>
            <a:off x="59436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출력 스키마 (JSON)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4360" y="3493008"/>
            <a:ext cx="384048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root_cause   : string   (한국어 2-3문장)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threat_level : low | medium | high | critical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action_risk  : low | medium | high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    : string   (조치 명령)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    : string[] (3-5 근거)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 : float    (0.0-1.0)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3108960"/>
            <a:ext cx="3840480" cy="182880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846320" y="3108960"/>
            <a:ext cx="54864" cy="18288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983480" y="31546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action_risk 분기 로직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983480" y="3520440"/>
            <a:ext cx="685800" cy="31089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1"/>
          <p:cNvSpPr/>
          <p:nvPr/>
        </p:nvSpPr>
        <p:spPr>
          <a:xfrm>
            <a:off x="4983480" y="35204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24144" y="35204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자동 실행 (컨테이너 재시작 등)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983480" y="3977640"/>
            <a:ext cx="685800" cy="310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4983480" y="39776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724144" y="39776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위협도 판단 후 알림 or 승인 요청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983480" y="4434840"/>
            <a:ext cx="685800" cy="31089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983480" y="44348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724144" y="443484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승인 대기 (격리 등 위험 조치)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시연 ①  —  CPU 고갈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cpu_stress.py via cli_demo.py  |  대상: leafy-backend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4114800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54864" cy="14447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20624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cpu_stress.py  실행 상세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" y="1280160"/>
            <a:ext cx="3749040" cy="1371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" y="13167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CONTAINER_NAME 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65376" y="1316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leafy-backend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27248" y="13167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부하 주입 대상 컨테이너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591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STRESS_DURATION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65376" y="15910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 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27248" y="15910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부하 지속 시간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0624" y="18653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CPU_WORKERS 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65376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(= nproc 전체)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27248" y="18653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논리 CPU 수만큼 자동 할당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0624" y="2139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부하 방법 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65376" y="21396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stress-ng  or  dd loop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27248" y="21396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stress-ng 없으면 dd 멀티프로세스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65776" y="100584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65776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부하 주입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8304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 if=/dev/zero 프로세스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nproc 개 동시 실행 (60s)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24144" y="137160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79008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181344" y="100584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81344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33872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발화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HighCpuUsage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50%  for 1m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39712" y="137160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94576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296912" y="100584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296912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분석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±5분 메트릭 + 로그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Llama 3.1-8B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55280" y="137160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10144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412480" y="1005840"/>
            <a:ext cx="256032" cy="25603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41248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65008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65008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HIGH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HIGH  conf: 0.93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2523744"/>
            <a:ext cx="8631936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6" name="Shape 44"/>
          <p:cNvSpPr/>
          <p:nvPr/>
        </p:nvSpPr>
        <p:spPr>
          <a:xfrm>
            <a:off x="256032" y="2523744"/>
            <a:ext cx="5486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38912" y="25786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cpu고갈시나리오시연영상.mp4  —  cli_demo.py 실행 → 크리퍼 접근 → 공격 감지 → LLM 분석 </a:t>
            </a:r>
            <a:r>
              <a:rPr lang="en-US" sz="950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3072384"/>
            <a:ext cx="4206240" cy="188366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56032" y="3072384"/>
            <a:ext cx="54864" cy="18836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20624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분석 결과 (시뮬레이션)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20624" y="341985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root_cause  : 컨테이너 내부 비정상 CPU 점유.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크립토마이닝 악성코드 의심.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   : CPU 91% 급등 / dd 프로세스 다수 감지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threat_level: HIGH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action_risk : HIGH     confidence: 0.93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   : isolate_container leafy-backend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3072384"/>
            <a:ext cx="4114800" cy="188366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754880" y="3072384"/>
            <a:ext cx="54864" cy="18836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조치 흐름 (시뮬레이션)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01184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Docker API 연결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01184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leafy-net 네트워크 격리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01184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docker network disconnect leafy-net leafy-backend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01184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Slack 알림 전송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01184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✅  컨테이너 격리 완료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71EF538-1722-4A25-88B8-8C4A1C24F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cpu고갈시나리오시연영상.mp4">
            <a:hlinkClick r:id="" action="ppaction://media"/>
            <a:extLst>
              <a:ext uri="{FF2B5EF4-FFF2-40B4-BE49-F238E27FC236}">
                <a16:creationId xmlns:a16="http://schemas.microsoft.com/office/drawing/2014/main" id="{0C8B8B49-D420-C1B6-168F-FB2D9C8F1D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9559" y="867402"/>
            <a:ext cx="8184881" cy="292609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BD28D3C-37C5-457B-839A-75219D6161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660899"/>
            <a:ext cx="9144000" cy="48260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8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75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 시연 ②  —  메모리 누수 / OOM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memory_leak.py via cli_demo.py  |  대상: leafy-db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256032" y="969264"/>
            <a:ext cx="4114800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56032" y="969264"/>
            <a:ext cx="54864" cy="14447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20624" y="1024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memory_leak.py  실행 상세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0624" y="1280160"/>
            <a:ext cx="3749040" cy="13716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20624" y="131673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CONTAINER_NAME :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65376" y="1316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leafy-db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127248" y="131673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 재시작 대상 컨테이너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59105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RESTART_COUNT :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65376" y="15910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회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127248" y="15910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 반복 횟수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20624" y="18653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CYCLE_SECONDS :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865376" y="186537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 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127248" y="186537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재시작 간격 (총 ~270 s)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20624" y="21396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종료 방법 :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865376" y="213969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SIGKILL  →  auto restart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127248" y="21396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재시작 정책으로 복구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663440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65776" y="100584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65776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강제 종료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8304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SIGKILL 3회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90초 주기 반복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724144" y="137160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779008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181344" y="100584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6181344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833872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발화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833872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ContainerRestarted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0m (즉시)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839712" y="137160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94576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7296912" y="100584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7296912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0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분석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49440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급증 + OOM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→ LLM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955280" y="1371600"/>
            <a:ext cx="54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97316"/>
                </a:solidFill>
              </a:rPr>
              <a:t>→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010144" y="969264"/>
            <a:ext cx="1060704" cy="1444752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8412480" y="1005840"/>
            <a:ext cx="256032" cy="25603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40"/>
          <p:cNvSpPr/>
          <p:nvPr/>
        </p:nvSpPr>
        <p:spPr>
          <a:xfrm>
            <a:off x="841248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65008" y="1298448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판정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065008" y="1554480"/>
            <a:ext cx="9509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threat: HIGH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  0.88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56032" y="2523744"/>
            <a:ext cx="8631936" cy="45720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256032" y="2523744"/>
            <a:ext cx="54864" cy="457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438912" y="25786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📹  memory_leak시나리오시연영상.mp4  —  cli_demo.py 실행 → OOM 감지 → LLM 분석 출력 → 컨테이너 재시작 완료  (실행화면 캡처 추가 예정)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3072384"/>
            <a:ext cx="4206240" cy="188366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256032" y="3072384"/>
            <a:ext cx="54864" cy="18836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420624" y="3127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분석 결과 (시뮬레이션)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20624" y="3419856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root_cause  : leafy-db 컨테이너 메모리 한도 초과,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반복 재시작 중.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    : OOMKilled 3회 / restart_count=3 / RSS 급증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threat_level: HIGH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action_risk : MEDIUM   confidence: 0.88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      : restart_container leafy-db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3072384"/>
            <a:ext cx="4114800" cy="1883664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4754880" y="3072384"/>
            <a:ext cx="54864" cy="18836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52"/>
          <p:cNvSpPr/>
          <p:nvPr/>
        </p:nvSpPr>
        <p:spPr>
          <a:xfrm>
            <a:off x="4901184" y="3127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조치 흐름 (시뮬레이션)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901184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Docker API 연결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901184" y="37307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leafy-db 컨테이너 상태 확인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901184" y="40050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docker restart leafy-db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901184" y="42793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메모리 모니터링 설정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901184" y="455371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✅  재시작 및 모니터링 완료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개발 계획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to Final Presentation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3931920" cy="3931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54864" cy="3931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02920" y="10515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현재 완성 (중간 발표)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380744"/>
            <a:ext cx="356616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30352" y="1490472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749808" y="14630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서비스 컨테이너화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1883664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49808" y="185623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수집기 배포 (node-exporter / cAdvisor / exporters / fluentd)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0352" y="2276856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749808" y="224942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Loki + Grafana 모니터링 스택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" y="2670048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49808" y="2642616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AlertManager 룰 및 웹훅 연동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3063240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749808" y="303580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Pipeline (FastAPI + Prompt Builder)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0352" y="3456432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749808" y="342900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 3.1-8B LLM 호출 및 JSON 파싱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0352" y="3849624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749808" y="382219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Agent 기본 분기 로직 구현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4242816"/>
            <a:ext cx="137160" cy="1371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749808" y="4215384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cli_demo.py — CPU/메모리 시나리오 시연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1005840"/>
            <a:ext cx="4297680" cy="393192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526280" y="1005840"/>
            <a:ext cx="54864" cy="39319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663440" y="10515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기말 발표 개발 목표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1380744"/>
            <a:ext cx="4023360" cy="18288"/>
          </a:xfrm>
          <a:prstGeom prst="rect">
            <a:avLst/>
          </a:prstGeom>
          <a:solidFill>
            <a:srgbClr val="1E3D5C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1508760"/>
            <a:ext cx="25603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663440" y="15087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10912" y="15270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Agent </a:t>
            </a:r>
            <a:r>
              <a:rPr lang="ko-KR" alt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10912" y="17830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Docker API 연동 검증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격리/재시작 액션 통합 테스트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663440" y="2331720"/>
            <a:ext cx="25603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663440" y="23317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10912" y="235000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승인</a:t>
            </a:r>
            <a:r>
              <a:rPr lang="ko-KR" alt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기능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10912" y="2606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관리자 승인 / 거부 인터페이스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action_risk=high 대응 플로우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154680"/>
            <a:ext cx="256032" cy="256032"/>
          </a:xfrm>
          <a:prstGeom prst="rect">
            <a:avLst/>
          </a:prstGeom>
          <a:solidFill>
            <a:srgbClr val="4C1D95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4663440" y="3154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10912" y="317296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</a:t>
            </a: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시나리오</a:t>
            </a: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고도화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10912" y="3429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brute_force.py / secret_dump.py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category2_security 시나리오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내용 개체 틀 4">
            <a:extLst>
              <a:ext uri="{FF2B5EF4-FFF2-40B4-BE49-F238E27FC236}">
                <a16:creationId xmlns:a16="http://schemas.microsoft.com/office/drawing/2014/main" id="{8FB06DC3-D3DE-1C0A-BCB6-DA599E8FA4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6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27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640080"/>
            <a:ext cx="8229600" cy="1280160"/>
          </a:xfrm>
          <a:prstGeom prst="rect">
            <a:avLst/>
          </a:prstGeom>
          <a:solidFill>
            <a:srgbClr val="0F2035"/>
          </a:solidFill>
          <a:ln w="12700">
            <a:solidFill>
              <a:srgbClr val="1E3D5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Shape 24"/>
          <p:cNvSpPr/>
          <p:nvPr/>
        </p:nvSpPr>
        <p:spPr>
          <a:xfrm>
            <a:off x="457200" y="624840"/>
            <a:ext cx="54864" cy="12801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85800" y="62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" y="11582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중 궁금하신 점은 자유롭게 질문해 주세요.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1207</Words>
  <Application>Microsoft Macintosh PowerPoint</Application>
  <PresentationFormat>화면 슬라이드 쇼(16:9)</PresentationFormat>
  <Paragraphs>286</Paragraphs>
  <Slides>18</Slides>
  <Notes>10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AIOps 기반 컨테이너 인프라 자동 이상탐지 시스템</dc:title>
  <dc:subject>PptxGenJS Presentation</dc:subject>
  <dc:creator>PptxGenJS</dc:creator>
  <cp:lastModifiedBy>윤기찬</cp:lastModifiedBy>
  <cp:revision>7</cp:revision>
  <dcterms:created xsi:type="dcterms:W3CDTF">2026-04-14T04:54:33Z</dcterms:created>
  <dcterms:modified xsi:type="dcterms:W3CDTF">2026-04-15T10:41:47Z</dcterms:modified>
</cp:coreProperties>
</file>